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IBM Plex Serif" panose="02060503050406000203" pitchFamily="18" charset="0"/>
      <p:regular r:id="rId13"/>
    </p:embeddedFont>
    <p:embeddedFont>
      <p:font typeface="IBM Plex Serif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498"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Freeform 2"/>
          <p:cNvSpPr/>
          <p:nvPr/>
        </p:nvSpPr>
        <p:spPr>
          <a:xfrm>
            <a:off x="3626915" y="1973684"/>
            <a:ext cx="11034171" cy="6339633"/>
          </a:xfrm>
          <a:custGeom>
            <a:avLst/>
            <a:gdLst/>
            <a:ahLst/>
            <a:cxnLst/>
            <a:rect l="l" t="t" r="r" b="b"/>
            <a:pathLst>
              <a:path w="11034171" h="6339633">
                <a:moveTo>
                  <a:pt x="0" y="0"/>
                </a:moveTo>
                <a:lnTo>
                  <a:pt x="11034170" y="0"/>
                </a:lnTo>
                <a:lnTo>
                  <a:pt x="11034170" y="6339632"/>
                </a:lnTo>
                <a:lnTo>
                  <a:pt x="0" y="63396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214558" y="3372430"/>
            <a:ext cx="9858883" cy="3103446"/>
          </a:xfrm>
          <a:prstGeom prst="rect">
            <a:avLst/>
          </a:prstGeom>
        </p:spPr>
        <p:txBody>
          <a:bodyPr lIns="0" tIns="0" rIns="0" bIns="0" rtlCol="0" anchor="t">
            <a:spAutoFit/>
          </a:bodyPr>
          <a:lstStyle/>
          <a:p>
            <a:pPr algn="ctr">
              <a:lnSpc>
                <a:spcPts val="11933"/>
              </a:lnSpc>
            </a:pPr>
            <a:r>
              <a:rPr lang="en-US" sz="12053" b="1">
                <a:solidFill>
                  <a:srgbClr val="303135"/>
                </a:solidFill>
                <a:latin typeface="IBM Plex Serif Bold"/>
                <a:ea typeface="IBM Plex Serif Bold"/>
                <a:cs typeface="IBM Plex Serif Bold"/>
                <a:sym typeface="IBM Plex Serif Bold"/>
              </a:rPr>
              <a:t>MORSE</a:t>
            </a:r>
          </a:p>
          <a:p>
            <a:pPr algn="ctr">
              <a:lnSpc>
                <a:spcPts val="11933"/>
              </a:lnSpc>
            </a:pPr>
            <a:r>
              <a:rPr lang="en-US" sz="12053" b="1">
                <a:solidFill>
                  <a:srgbClr val="303135"/>
                </a:solidFill>
                <a:latin typeface="IBM Plex Serif Bold"/>
                <a:ea typeface="IBM Plex Serif Bold"/>
                <a:cs typeface="IBM Plex Serif Bold"/>
                <a:sym typeface="IBM Plex Serif Bold"/>
              </a:rPr>
              <a:t>CODE GAME</a:t>
            </a:r>
          </a:p>
        </p:txBody>
      </p:sp>
      <p:sp>
        <p:nvSpPr>
          <p:cNvPr id="4" name="Freeform 4"/>
          <p:cNvSpPr/>
          <p:nvPr/>
        </p:nvSpPr>
        <p:spPr>
          <a:xfrm flipH="1">
            <a:off x="15520208" y="5586298"/>
            <a:ext cx="3478183" cy="4924486"/>
          </a:xfrm>
          <a:custGeom>
            <a:avLst/>
            <a:gdLst/>
            <a:ahLst/>
            <a:cxnLst/>
            <a:rect l="l" t="t" r="r" b="b"/>
            <a:pathLst>
              <a:path w="3478183" h="4924486">
                <a:moveTo>
                  <a:pt x="3478184" y="0"/>
                </a:moveTo>
                <a:lnTo>
                  <a:pt x="0" y="0"/>
                </a:lnTo>
                <a:lnTo>
                  <a:pt x="0" y="4924487"/>
                </a:lnTo>
                <a:lnTo>
                  <a:pt x="3478184" y="4924487"/>
                </a:lnTo>
                <a:lnTo>
                  <a:pt x="3478184"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704850" y="-219136"/>
            <a:ext cx="3478183" cy="4924486"/>
          </a:xfrm>
          <a:custGeom>
            <a:avLst/>
            <a:gdLst/>
            <a:ahLst/>
            <a:cxnLst/>
            <a:rect l="l" t="t" r="r" b="b"/>
            <a:pathLst>
              <a:path w="3478183" h="4924486">
                <a:moveTo>
                  <a:pt x="0" y="4924486"/>
                </a:moveTo>
                <a:lnTo>
                  <a:pt x="3478183" y="4924486"/>
                </a:lnTo>
                <a:lnTo>
                  <a:pt x="3478183" y="0"/>
                </a:lnTo>
                <a:lnTo>
                  <a:pt x="0" y="0"/>
                </a:lnTo>
                <a:lnTo>
                  <a:pt x="0" y="492448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873766" y="-1449726"/>
            <a:ext cx="4771068" cy="4114800"/>
          </a:xfrm>
          <a:custGeom>
            <a:avLst/>
            <a:gdLst/>
            <a:ahLst/>
            <a:cxnLst/>
            <a:rect l="l" t="t" r="r" b="b"/>
            <a:pathLst>
              <a:path w="4771068" h="4114800">
                <a:moveTo>
                  <a:pt x="0" y="0"/>
                </a:moveTo>
                <a:lnTo>
                  <a:pt x="4771068" y="0"/>
                </a:lnTo>
                <a:lnTo>
                  <a:pt x="477106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H="1" flipV="1">
            <a:off x="-1362075" y="7619917"/>
            <a:ext cx="4771068" cy="4114800"/>
          </a:xfrm>
          <a:custGeom>
            <a:avLst/>
            <a:gdLst/>
            <a:ahLst/>
            <a:cxnLst/>
            <a:rect l="l" t="t" r="r" b="b"/>
            <a:pathLst>
              <a:path w="4771068" h="4114800">
                <a:moveTo>
                  <a:pt x="4771068" y="4114800"/>
                </a:moveTo>
                <a:lnTo>
                  <a:pt x="0" y="4114800"/>
                </a:lnTo>
                <a:lnTo>
                  <a:pt x="0" y="0"/>
                </a:lnTo>
                <a:lnTo>
                  <a:pt x="4771068" y="0"/>
                </a:lnTo>
                <a:lnTo>
                  <a:pt x="4771068" y="411480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5486400" y="6057900"/>
            <a:ext cx="7530391" cy="1698863"/>
          </a:xfrm>
          <a:prstGeom prst="rect">
            <a:avLst/>
          </a:prstGeom>
        </p:spPr>
        <p:txBody>
          <a:bodyPr lIns="0" tIns="0" rIns="0" bIns="0" rtlCol="0" anchor="t">
            <a:spAutoFit/>
          </a:bodyPr>
          <a:lstStyle/>
          <a:p>
            <a:pPr algn="ctr">
              <a:lnSpc>
                <a:spcPts val="4565"/>
              </a:lnSpc>
            </a:pPr>
            <a:r>
              <a:rPr lang="en-US" sz="2500" dirty="0">
                <a:solidFill>
                  <a:srgbClr val="303135"/>
                </a:solidFill>
                <a:latin typeface="IBM Plex Serif"/>
                <a:ea typeface="IBM Plex Serif"/>
                <a:cs typeface="IBM Plex Serif"/>
                <a:sym typeface="IBM Plex Serif"/>
              </a:rPr>
              <a:t>Presented By Mansi Kumari(1262251426), Ria Mudhole(1262251691), Sejal </a:t>
            </a:r>
            <a:r>
              <a:rPr lang="en-US" sz="2500" dirty="0" err="1">
                <a:solidFill>
                  <a:srgbClr val="303135"/>
                </a:solidFill>
                <a:latin typeface="IBM Plex Serif"/>
                <a:ea typeface="IBM Plex Serif"/>
                <a:cs typeface="IBM Plex Serif"/>
                <a:sym typeface="IBM Plex Serif"/>
              </a:rPr>
              <a:t>Talele</a:t>
            </a:r>
            <a:r>
              <a:rPr lang="en-US" sz="2500" dirty="0">
                <a:solidFill>
                  <a:srgbClr val="303135"/>
                </a:solidFill>
                <a:latin typeface="IBM Plex Serif"/>
                <a:ea typeface="IBM Plex Serif"/>
                <a:cs typeface="IBM Plex Serif"/>
                <a:sym typeface="IBM Plex Serif"/>
              </a:rPr>
              <a:t>(1262252623), and Neha </a:t>
            </a:r>
            <a:r>
              <a:rPr lang="en-US" sz="2500" dirty="0" err="1">
                <a:solidFill>
                  <a:srgbClr val="303135"/>
                </a:solidFill>
                <a:latin typeface="IBM Plex Serif"/>
                <a:ea typeface="IBM Plex Serif"/>
                <a:cs typeface="IBM Plex Serif"/>
                <a:sym typeface="IBM Plex Serif"/>
              </a:rPr>
              <a:t>Avhad</a:t>
            </a:r>
            <a:r>
              <a:rPr lang="en-US" sz="2500" dirty="0">
                <a:solidFill>
                  <a:srgbClr val="303135"/>
                </a:solidFill>
                <a:latin typeface="IBM Plex Serif"/>
                <a:ea typeface="IBM Plex Serif"/>
                <a:cs typeface="IBM Plex Serif"/>
                <a:sym typeface="IBM Plex Serif"/>
              </a:rPr>
              <a:t>(1262252511)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Freeform 2"/>
          <p:cNvSpPr/>
          <p:nvPr/>
        </p:nvSpPr>
        <p:spPr>
          <a:xfrm flipH="1">
            <a:off x="15520208" y="5586298"/>
            <a:ext cx="3478183" cy="4924486"/>
          </a:xfrm>
          <a:custGeom>
            <a:avLst/>
            <a:gdLst/>
            <a:ahLst/>
            <a:cxnLst/>
            <a:rect l="l" t="t" r="r" b="b"/>
            <a:pathLst>
              <a:path w="3478183" h="4924486">
                <a:moveTo>
                  <a:pt x="3478184" y="0"/>
                </a:moveTo>
                <a:lnTo>
                  <a:pt x="0" y="0"/>
                </a:lnTo>
                <a:lnTo>
                  <a:pt x="0" y="4924487"/>
                </a:lnTo>
                <a:lnTo>
                  <a:pt x="3478184" y="4924487"/>
                </a:lnTo>
                <a:lnTo>
                  <a:pt x="34781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704850" y="-219136"/>
            <a:ext cx="3478183" cy="4924486"/>
          </a:xfrm>
          <a:custGeom>
            <a:avLst/>
            <a:gdLst/>
            <a:ahLst/>
            <a:cxnLst/>
            <a:rect l="l" t="t" r="r" b="b"/>
            <a:pathLst>
              <a:path w="3478183" h="4924486">
                <a:moveTo>
                  <a:pt x="0" y="4924486"/>
                </a:moveTo>
                <a:lnTo>
                  <a:pt x="3478183" y="4924486"/>
                </a:lnTo>
                <a:lnTo>
                  <a:pt x="3478183" y="0"/>
                </a:lnTo>
                <a:lnTo>
                  <a:pt x="0" y="0"/>
                </a:lnTo>
                <a:lnTo>
                  <a:pt x="0" y="492448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873766" y="-1449726"/>
            <a:ext cx="4771068" cy="4114800"/>
          </a:xfrm>
          <a:custGeom>
            <a:avLst/>
            <a:gdLst/>
            <a:ahLst/>
            <a:cxnLst/>
            <a:rect l="l" t="t" r="r" b="b"/>
            <a:pathLst>
              <a:path w="4771068" h="4114800">
                <a:moveTo>
                  <a:pt x="0" y="0"/>
                </a:moveTo>
                <a:lnTo>
                  <a:pt x="4771068" y="0"/>
                </a:lnTo>
                <a:lnTo>
                  <a:pt x="47710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flipV="1">
            <a:off x="-1362075" y="7619917"/>
            <a:ext cx="4771068" cy="4114800"/>
          </a:xfrm>
          <a:custGeom>
            <a:avLst/>
            <a:gdLst/>
            <a:ahLst/>
            <a:cxnLst/>
            <a:rect l="l" t="t" r="r" b="b"/>
            <a:pathLst>
              <a:path w="4771068" h="4114800">
                <a:moveTo>
                  <a:pt x="4771068" y="4114800"/>
                </a:moveTo>
                <a:lnTo>
                  <a:pt x="0" y="4114800"/>
                </a:lnTo>
                <a:lnTo>
                  <a:pt x="0" y="0"/>
                </a:lnTo>
                <a:lnTo>
                  <a:pt x="4771068" y="0"/>
                </a:lnTo>
                <a:lnTo>
                  <a:pt x="4771068"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3491175" y="2812250"/>
            <a:ext cx="11305650" cy="1257136"/>
          </a:xfrm>
          <a:prstGeom prst="rect">
            <a:avLst/>
          </a:prstGeom>
        </p:spPr>
        <p:txBody>
          <a:bodyPr lIns="0" tIns="0" rIns="0" bIns="0" rtlCol="0" anchor="t">
            <a:spAutoFit/>
          </a:bodyPr>
          <a:lstStyle/>
          <a:p>
            <a:pPr algn="ctr">
              <a:lnSpc>
                <a:spcPts val="9432"/>
              </a:lnSpc>
            </a:pPr>
            <a:r>
              <a:rPr lang="en-US" sz="9527" b="1">
                <a:solidFill>
                  <a:srgbClr val="303135"/>
                </a:solidFill>
                <a:latin typeface="IBM Plex Serif Bold"/>
                <a:ea typeface="IBM Plex Serif Bold"/>
                <a:cs typeface="IBM Plex Serif Bold"/>
                <a:sym typeface="IBM Plex Serif Bold"/>
              </a:rPr>
              <a:t>INTRODUCTION</a:t>
            </a:r>
          </a:p>
        </p:txBody>
      </p:sp>
      <p:sp>
        <p:nvSpPr>
          <p:cNvPr id="7" name="TextBox 7"/>
          <p:cNvSpPr txBox="1"/>
          <p:nvPr/>
        </p:nvSpPr>
        <p:spPr>
          <a:xfrm>
            <a:off x="3051825" y="4522460"/>
            <a:ext cx="12189892" cy="2501658"/>
          </a:xfrm>
          <a:prstGeom prst="rect">
            <a:avLst/>
          </a:prstGeom>
        </p:spPr>
        <p:txBody>
          <a:bodyPr lIns="0" tIns="0" rIns="0" bIns="0" rtlCol="0" anchor="t">
            <a:spAutoFit/>
          </a:bodyPr>
          <a:lstStyle/>
          <a:p>
            <a:pPr marL="617592" lvl="1" indent="-308796" algn="l">
              <a:lnSpc>
                <a:spcPts val="5034"/>
              </a:lnSpc>
              <a:buFont typeface="Arial"/>
              <a:buChar char="•"/>
            </a:pPr>
            <a:r>
              <a:rPr lang="en-US" sz="2860">
                <a:solidFill>
                  <a:srgbClr val="303135"/>
                </a:solidFill>
                <a:latin typeface="IBM Plex Serif"/>
                <a:ea typeface="IBM Plex Serif"/>
                <a:cs typeface="IBM Plex Serif"/>
                <a:sym typeface="IBM Plex Serif"/>
              </a:rPr>
              <a:t>Morse Code is a method of encoding text into dots and dashes. </a:t>
            </a:r>
          </a:p>
          <a:p>
            <a:pPr marL="617592" lvl="1" indent="-308796" algn="l">
              <a:lnSpc>
                <a:spcPts val="5034"/>
              </a:lnSpc>
              <a:buFont typeface="Arial"/>
              <a:buChar char="•"/>
            </a:pPr>
            <a:r>
              <a:rPr lang="en-US" sz="2860">
                <a:solidFill>
                  <a:srgbClr val="303135"/>
                </a:solidFill>
                <a:latin typeface="IBM Plex Serif"/>
                <a:ea typeface="IBM Plex Serif"/>
                <a:cs typeface="IBM Plex Serif"/>
                <a:sym typeface="IBM Plex Serif"/>
              </a:rPr>
              <a:t>Used in telecommunication and military communication. </a:t>
            </a:r>
          </a:p>
          <a:p>
            <a:pPr marL="617592" lvl="1" indent="-308796" algn="l">
              <a:lnSpc>
                <a:spcPts val="5034"/>
              </a:lnSpc>
              <a:buFont typeface="Arial"/>
              <a:buChar char="•"/>
            </a:pPr>
            <a:r>
              <a:rPr lang="en-US" sz="2860">
                <a:solidFill>
                  <a:srgbClr val="303135"/>
                </a:solidFill>
                <a:latin typeface="IBM Plex Serif"/>
                <a:ea typeface="IBM Plex Serif"/>
                <a:cs typeface="IBM Plex Serif"/>
                <a:sym typeface="IBM Plex Serif"/>
              </a:rPr>
              <a:t> This project simulates a Morse decoding training game. </a:t>
            </a:r>
          </a:p>
          <a:p>
            <a:pPr marL="617592" lvl="1" indent="-308796" algn="l">
              <a:lnSpc>
                <a:spcPts val="5034"/>
              </a:lnSpc>
              <a:buFont typeface="Arial"/>
              <a:buChar char="•"/>
            </a:pPr>
            <a:r>
              <a:rPr lang="en-US" sz="2860">
                <a:solidFill>
                  <a:srgbClr val="303135"/>
                </a:solidFill>
                <a:latin typeface="IBM Plex Serif"/>
                <a:ea typeface="IBM Plex Serif"/>
                <a:cs typeface="IBM Plex Serif"/>
                <a:sym typeface="IBM Plex Serif"/>
              </a:rPr>
              <a:t>Developed using C programming language.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Freeform 2"/>
          <p:cNvSpPr/>
          <p:nvPr/>
        </p:nvSpPr>
        <p:spPr>
          <a:xfrm flipH="1">
            <a:off x="15520208" y="5586298"/>
            <a:ext cx="3478183" cy="4924486"/>
          </a:xfrm>
          <a:custGeom>
            <a:avLst/>
            <a:gdLst/>
            <a:ahLst/>
            <a:cxnLst/>
            <a:rect l="l" t="t" r="r" b="b"/>
            <a:pathLst>
              <a:path w="3478183" h="4924486">
                <a:moveTo>
                  <a:pt x="3478184" y="0"/>
                </a:moveTo>
                <a:lnTo>
                  <a:pt x="0" y="0"/>
                </a:lnTo>
                <a:lnTo>
                  <a:pt x="0" y="4924487"/>
                </a:lnTo>
                <a:lnTo>
                  <a:pt x="3478184" y="4924487"/>
                </a:lnTo>
                <a:lnTo>
                  <a:pt x="34781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704850" y="-219136"/>
            <a:ext cx="3478183" cy="4924486"/>
          </a:xfrm>
          <a:custGeom>
            <a:avLst/>
            <a:gdLst/>
            <a:ahLst/>
            <a:cxnLst/>
            <a:rect l="l" t="t" r="r" b="b"/>
            <a:pathLst>
              <a:path w="3478183" h="4924486">
                <a:moveTo>
                  <a:pt x="0" y="4924486"/>
                </a:moveTo>
                <a:lnTo>
                  <a:pt x="3478183" y="4924486"/>
                </a:lnTo>
                <a:lnTo>
                  <a:pt x="3478183" y="0"/>
                </a:lnTo>
                <a:lnTo>
                  <a:pt x="0" y="0"/>
                </a:lnTo>
                <a:lnTo>
                  <a:pt x="0" y="492448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873766" y="-1449726"/>
            <a:ext cx="4771068" cy="4114800"/>
          </a:xfrm>
          <a:custGeom>
            <a:avLst/>
            <a:gdLst/>
            <a:ahLst/>
            <a:cxnLst/>
            <a:rect l="l" t="t" r="r" b="b"/>
            <a:pathLst>
              <a:path w="4771068" h="4114800">
                <a:moveTo>
                  <a:pt x="0" y="0"/>
                </a:moveTo>
                <a:lnTo>
                  <a:pt x="4771068" y="0"/>
                </a:lnTo>
                <a:lnTo>
                  <a:pt x="47710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flipV="1">
            <a:off x="-1362075" y="7619917"/>
            <a:ext cx="4771068" cy="4114800"/>
          </a:xfrm>
          <a:custGeom>
            <a:avLst/>
            <a:gdLst/>
            <a:ahLst/>
            <a:cxnLst/>
            <a:rect l="l" t="t" r="r" b="b"/>
            <a:pathLst>
              <a:path w="4771068" h="4114800">
                <a:moveTo>
                  <a:pt x="4771068" y="4114800"/>
                </a:moveTo>
                <a:lnTo>
                  <a:pt x="0" y="4114800"/>
                </a:lnTo>
                <a:lnTo>
                  <a:pt x="0" y="0"/>
                </a:lnTo>
                <a:lnTo>
                  <a:pt x="4771068" y="0"/>
                </a:lnTo>
                <a:lnTo>
                  <a:pt x="4771068"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3491175" y="2484873"/>
            <a:ext cx="11305650" cy="1257136"/>
          </a:xfrm>
          <a:prstGeom prst="rect">
            <a:avLst/>
          </a:prstGeom>
        </p:spPr>
        <p:txBody>
          <a:bodyPr lIns="0" tIns="0" rIns="0" bIns="0" rtlCol="0" anchor="t">
            <a:spAutoFit/>
          </a:bodyPr>
          <a:lstStyle/>
          <a:p>
            <a:pPr algn="ctr">
              <a:lnSpc>
                <a:spcPts val="9432"/>
              </a:lnSpc>
            </a:pPr>
            <a:r>
              <a:rPr lang="en-US" sz="9527" b="1">
                <a:solidFill>
                  <a:srgbClr val="303135"/>
                </a:solidFill>
                <a:latin typeface="IBM Plex Serif Bold"/>
                <a:ea typeface="IBM Plex Serif Bold"/>
                <a:cs typeface="IBM Plex Serif Bold"/>
                <a:sym typeface="IBM Plex Serif Bold"/>
              </a:rPr>
              <a:t>PROBLEM</a:t>
            </a:r>
          </a:p>
        </p:txBody>
      </p:sp>
      <p:sp>
        <p:nvSpPr>
          <p:cNvPr id="7" name="TextBox 7"/>
          <p:cNvSpPr txBox="1"/>
          <p:nvPr/>
        </p:nvSpPr>
        <p:spPr>
          <a:xfrm>
            <a:off x="3114211" y="4144714"/>
            <a:ext cx="12065119" cy="2901047"/>
          </a:xfrm>
          <a:prstGeom prst="rect">
            <a:avLst/>
          </a:prstGeom>
        </p:spPr>
        <p:txBody>
          <a:bodyPr lIns="0" tIns="0" rIns="0" bIns="0" rtlCol="0" anchor="t">
            <a:spAutoFit/>
          </a:bodyPr>
          <a:lstStyle/>
          <a:p>
            <a:pPr algn="l">
              <a:lnSpc>
                <a:spcPts val="5873"/>
              </a:lnSpc>
            </a:pPr>
            <a:r>
              <a:rPr lang="en-US" sz="3337">
                <a:solidFill>
                  <a:srgbClr val="303135"/>
                </a:solidFill>
                <a:latin typeface="IBM Plex Serif"/>
                <a:ea typeface="IBM Plex Serif"/>
                <a:cs typeface="IBM Plex Serif"/>
                <a:sym typeface="IBM Plex Serif"/>
              </a:rPr>
              <a:t>To design and develop an interactive Morse Code training game in C that helps users practice decoding Morse signals using audio feedback and timed responses, while tracking performance through a scoring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Freeform 2"/>
          <p:cNvSpPr/>
          <p:nvPr/>
        </p:nvSpPr>
        <p:spPr>
          <a:xfrm flipH="1">
            <a:off x="15520208" y="5586298"/>
            <a:ext cx="3478183" cy="4924486"/>
          </a:xfrm>
          <a:custGeom>
            <a:avLst/>
            <a:gdLst/>
            <a:ahLst/>
            <a:cxnLst/>
            <a:rect l="l" t="t" r="r" b="b"/>
            <a:pathLst>
              <a:path w="3478183" h="4924486">
                <a:moveTo>
                  <a:pt x="3478184" y="0"/>
                </a:moveTo>
                <a:lnTo>
                  <a:pt x="0" y="0"/>
                </a:lnTo>
                <a:lnTo>
                  <a:pt x="0" y="4924487"/>
                </a:lnTo>
                <a:lnTo>
                  <a:pt x="3478184" y="4924487"/>
                </a:lnTo>
                <a:lnTo>
                  <a:pt x="34781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704850" y="-219136"/>
            <a:ext cx="3478183" cy="4924486"/>
          </a:xfrm>
          <a:custGeom>
            <a:avLst/>
            <a:gdLst/>
            <a:ahLst/>
            <a:cxnLst/>
            <a:rect l="l" t="t" r="r" b="b"/>
            <a:pathLst>
              <a:path w="3478183" h="4924486">
                <a:moveTo>
                  <a:pt x="0" y="4924486"/>
                </a:moveTo>
                <a:lnTo>
                  <a:pt x="3478183" y="4924486"/>
                </a:lnTo>
                <a:lnTo>
                  <a:pt x="3478183" y="0"/>
                </a:lnTo>
                <a:lnTo>
                  <a:pt x="0" y="0"/>
                </a:lnTo>
                <a:lnTo>
                  <a:pt x="0" y="492448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873766" y="-1449726"/>
            <a:ext cx="4771068" cy="4114800"/>
          </a:xfrm>
          <a:custGeom>
            <a:avLst/>
            <a:gdLst/>
            <a:ahLst/>
            <a:cxnLst/>
            <a:rect l="l" t="t" r="r" b="b"/>
            <a:pathLst>
              <a:path w="4771068" h="4114800">
                <a:moveTo>
                  <a:pt x="0" y="0"/>
                </a:moveTo>
                <a:lnTo>
                  <a:pt x="4771068" y="0"/>
                </a:lnTo>
                <a:lnTo>
                  <a:pt x="47710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flipV="1">
            <a:off x="-1362075" y="7619917"/>
            <a:ext cx="4771068" cy="4114800"/>
          </a:xfrm>
          <a:custGeom>
            <a:avLst/>
            <a:gdLst/>
            <a:ahLst/>
            <a:cxnLst/>
            <a:rect l="l" t="t" r="r" b="b"/>
            <a:pathLst>
              <a:path w="4771068" h="4114800">
                <a:moveTo>
                  <a:pt x="4771068" y="4114800"/>
                </a:moveTo>
                <a:lnTo>
                  <a:pt x="0" y="4114800"/>
                </a:lnTo>
                <a:lnTo>
                  <a:pt x="0" y="0"/>
                </a:lnTo>
                <a:lnTo>
                  <a:pt x="4771068" y="0"/>
                </a:lnTo>
                <a:lnTo>
                  <a:pt x="4771068"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3491175" y="2634967"/>
            <a:ext cx="11305650" cy="1257136"/>
          </a:xfrm>
          <a:prstGeom prst="rect">
            <a:avLst/>
          </a:prstGeom>
        </p:spPr>
        <p:txBody>
          <a:bodyPr lIns="0" tIns="0" rIns="0" bIns="0" rtlCol="0" anchor="t">
            <a:spAutoFit/>
          </a:bodyPr>
          <a:lstStyle/>
          <a:p>
            <a:pPr algn="ctr">
              <a:lnSpc>
                <a:spcPts val="9432"/>
              </a:lnSpc>
            </a:pPr>
            <a:r>
              <a:rPr lang="en-US" sz="9527" b="1">
                <a:solidFill>
                  <a:srgbClr val="303135"/>
                </a:solidFill>
                <a:latin typeface="IBM Plex Serif Bold"/>
                <a:ea typeface="IBM Plex Serif Bold"/>
                <a:cs typeface="IBM Plex Serif Bold"/>
                <a:sym typeface="IBM Plex Serif Bold"/>
              </a:rPr>
              <a:t>OBJECTIVE</a:t>
            </a:r>
          </a:p>
        </p:txBody>
      </p:sp>
      <p:sp>
        <p:nvSpPr>
          <p:cNvPr id="7" name="TextBox 7"/>
          <p:cNvSpPr txBox="1"/>
          <p:nvPr/>
        </p:nvSpPr>
        <p:spPr>
          <a:xfrm>
            <a:off x="2721178" y="4828041"/>
            <a:ext cx="6588502" cy="4430259"/>
          </a:xfrm>
          <a:prstGeom prst="rect">
            <a:avLst/>
          </a:prstGeom>
        </p:spPr>
        <p:txBody>
          <a:bodyPr lIns="0" tIns="0" rIns="0" bIns="0" rtlCol="0" anchor="t">
            <a:spAutoFit/>
          </a:bodyPr>
          <a:lstStyle/>
          <a:p>
            <a:pPr algn="ctr">
              <a:lnSpc>
                <a:spcPts val="4420"/>
              </a:lnSpc>
            </a:pPr>
            <a:r>
              <a:rPr lang="en-US" sz="2511">
                <a:solidFill>
                  <a:srgbClr val="303135"/>
                </a:solidFill>
                <a:latin typeface="IBM Plex Serif"/>
                <a:ea typeface="IBM Plex Serif"/>
                <a:cs typeface="IBM Plex Serif"/>
                <a:sym typeface="IBM Plex Serif"/>
              </a:rPr>
              <a:t>The objective of this project is to design and implement an interactive Morse Code Training System that generates random alphabet signals and converts them into Morse code with corresponding audio sounds. The system allows users to practice decoding signals in a structured and engaging manner.</a:t>
            </a:r>
          </a:p>
        </p:txBody>
      </p:sp>
      <p:sp>
        <p:nvSpPr>
          <p:cNvPr id="8" name="TextBox 8"/>
          <p:cNvSpPr txBox="1"/>
          <p:nvPr/>
        </p:nvSpPr>
        <p:spPr>
          <a:xfrm>
            <a:off x="9538915" y="4837566"/>
            <a:ext cx="6540415" cy="3835264"/>
          </a:xfrm>
          <a:prstGeom prst="rect">
            <a:avLst/>
          </a:prstGeom>
        </p:spPr>
        <p:txBody>
          <a:bodyPr lIns="0" tIns="0" rIns="0" bIns="0" rtlCol="0" anchor="t">
            <a:spAutoFit/>
          </a:bodyPr>
          <a:lstStyle/>
          <a:p>
            <a:pPr algn="ctr">
              <a:lnSpc>
                <a:spcPts val="4388"/>
              </a:lnSpc>
            </a:pPr>
            <a:r>
              <a:rPr lang="en-US" sz="2493">
                <a:solidFill>
                  <a:srgbClr val="303135"/>
                </a:solidFill>
                <a:latin typeface="IBM Plex Serif"/>
                <a:ea typeface="IBM Plex Serif"/>
                <a:cs typeface="IBM Plex Serif"/>
                <a:sym typeface="IBM Plex Serif"/>
              </a:rPr>
              <a:t>It also aims to accept user input within a time limit, compare it with the correct Morse code, and evaluate performance using a scoring mechanism. Through this project, fundamental C programming concepts are applied in a practical and real-world application.</a:t>
            </a:r>
          </a:p>
        </p:txBody>
      </p:sp>
      <p:sp>
        <p:nvSpPr>
          <p:cNvPr id="9" name="TextBox 9"/>
          <p:cNvSpPr txBox="1"/>
          <p:nvPr/>
        </p:nvSpPr>
        <p:spPr>
          <a:xfrm>
            <a:off x="3408993" y="4299093"/>
            <a:ext cx="5569328" cy="555339"/>
          </a:xfrm>
          <a:prstGeom prst="rect">
            <a:avLst/>
          </a:prstGeom>
        </p:spPr>
        <p:txBody>
          <a:bodyPr lIns="0" tIns="0" rIns="0" bIns="0" rtlCol="0" anchor="t">
            <a:spAutoFit/>
          </a:bodyPr>
          <a:lstStyle/>
          <a:p>
            <a:pPr algn="ctr">
              <a:lnSpc>
                <a:spcPts val="4565"/>
              </a:lnSpc>
            </a:pPr>
            <a:r>
              <a:rPr lang="en-US" sz="3261">
                <a:solidFill>
                  <a:srgbClr val="303135"/>
                </a:solidFill>
                <a:latin typeface="IBM Plex Serif"/>
                <a:ea typeface="IBM Plex Serif"/>
                <a:cs typeface="IBM Plex Serif"/>
                <a:sym typeface="IBM Plex Serif"/>
              </a:rPr>
              <a:t>Objective 1</a:t>
            </a:r>
          </a:p>
        </p:txBody>
      </p:sp>
      <p:sp>
        <p:nvSpPr>
          <p:cNvPr id="10" name="TextBox 10"/>
          <p:cNvSpPr txBox="1"/>
          <p:nvPr/>
        </p:nvSpPr>
        <p:spPr>
          <a:xfrm>
            <a:off x="9309679" y="4299093"/>
            <a:ext cx="5569328" cy="555339"/>
          </a:xfrm>
          <a:prstGeom prst="rect">
            <a:avLst/>
          </a:prstGeom>
        </p:spPr>
        <p:txBody>
          <a:bodyPr lIns="0" tIns="0" rIns="0" bIns="0" rtlCol="0" anchor="t">
            <a:spAutoFit/>
          </a:bodyPr>
          <a:lstStyle/>
          <a:p>
            <a:pPr algn="ctr">
              <a:lnSpc>
                <a:spcPts val="4565"/>
              </a:lnSpc>
            </a:pPr>
            <a:r>
              <a:rPr lang="en-US" sz="3261">
                <a:solidFill>
                  <a:srgbClr val="303135"/>
                </a:solidFill>
                <a:latin typeface="IBM Plex Serif"/>
                <a:ea typeface="IBM Plex Serif"/>
                <a:cs typeface="IBM Plex Serif"/>
                <a:sym typeface="IBM Plex Serif"/>
              </a:rPr>
              <a:t>Objective 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Freeform 2"/>
          <p:cNvSpPr/>
          <p:nvPr/>
        </p:nvSpPr>
        <p:spPr>
          <a:xfrm flipH="1">
            <a:off x="15520208" y="5586298"/>
            <a:ext cx="3478183" cy="4924486"/>
          </a:xfrm>
          <a:custGeom>
            <a:avLst/>
            <a:gdLst/>
            <a:ahLst/>
            <a:cxnLst/>
            <a:rect l="l" t="t" r="r" b="b"/>
            <a:pathLst>
              <a:path w="3478183" h="4924486">
                <a:moveTo>
                  <a:pt x="3478184" y="0"/>
                </a:moveTo>
                <a:lnTo>
                  <a:pt x="0" y="0"/>
                </a:lnTo>
                <a:lnTo>
                  <a:pt x="0" y="4924487"/>
                </a:lnTo>
                <a:lnTo>
                  <a:pt x="3478184" y="4924487"/>
                </a:lnTo>
                <a:lnTo>
                  <a:pt x="34781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704850" y="-219136"/>
            <a:ext cx="3478183" cy="4924486"/>
          </a:xfrm>
          <a:custGeom>
            <a:avLst/>
            <a:gdLst/>
            <a:ahLst/>
            <a:cxnLst/>
            <a:rect l="l" t="t" r="r" b="b"/>
            <a:pathLst>
              <a:path w="3478183" h="4924486">
                <a:moveTo>
                  <a:pt x="0" y="4924486"/>
                </a:moveTo>
                <a:lnTo>
                  <a:pt x="3478183" y="4924486"/>
                </a:lnTo>
                <a:lnTo>
                  <a:pt x="3478183" y="0"/>
                </a:lnTo>
                <a:lnTo>
                  <a:pt x="0" y="0"/>
                </a:lnTo>
                <a:lnTo>
                  <a:pt x="0" y="492448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873766" y="-1449726"/>
            <a:ext cx="4771068" cy="4114800"/>
          </a:xfrm>
          <a:custGeom>
            <a:avLst/>
            <a:gdLst/>
            <a:ahLst/>
            <a:cxnLst/>
            <a:rect l="l" t="t" r="r" b="b"/>
            <a:pathLst>
              <a:path w="4771068" h="4114800">
                <a:moveTo>
                  <a:pt x="0" y="0"/>
                </a:moveTo>
                <a:lnTo>
                  <a:pt x="4771068" y="0"/>
                </a:lnTo>
                <a:lnTo>
                  <a:pt x="47710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flipV="1">
            <a:off x="-1362075" y="7619917"/>
            <a:ext cx="4771068" cy="4114800"/>
          </a:xfrm>
          <a:custGeom>
            <a:avLst/>
            <a:gdLst/>
            <a:ahLst/>
            <a:cxnLst/>
            <a:rect l="l" t="t" r="r" b="b"/>
            <a:pathLst>
              <a:path w="4771068" h="4114800">
                <a:moveTo>
                  <a:pt x="4771068" y="4114800"/>
                </a:moveTo>
                <a:lnTo>
                  <a:pt x="0" y="4114800"/>
                </a:lnTo>
                <a:lnTo>
                  <a:pt x="0" y="0"/>
                </a:lnTo>
                <a:lnTo>
                  <a:pt x="4771068" y="0"/>
                </a:lnTo>
                <a:lnTo>
                  <a:pt x="4771068"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3491175" y="2434942"/>
            <a:ext cx="12029034" cy="1257136"/>
          </a:xfrm>
          <a:prstGeom prst="rect">
            <a:avLst/>
          </a:prstGeom>
        </p:spPr>
        <p:txBody>
          <a:bodyPr lIns="0" tIns="0" rIns="0" bIns="0" rtlCol="0" anchor="t">
            <a:spAutoFit/>
          </a:bodyPr>
          <a:lstStyle/>
          <a:p>
            <a:pPr algn="ctr">
              <a:lnSpc>
                <a:spcPts val="9432"/>
              </a:lnSpc>
            </a:pPr>
            <a:r>
              <a:rPr lang="en-US" sz="9527" b="1">
                <a:solidFill>
                  <a:srgbClr val="303135"/>
                </a:solidFill>
                <a:latin typeface="IBM Plex Serif Bold"/>
                <a:ea typeface="IBM Plex Serif Bold"/>
                <a:cs typeface="IBM Plex Serif Bold"/>
                <a:sym typeface="IBM Plex Serif Bold"/>
              </a:rPr>
              <a:t>SYSTEM FEATURES</a:t>
            </a:r>
          </a:p>
        </p:txBody>
      </p:sp>
      <p:sp>
        <p:nvSpPr>
          <p:cNvPr id="7" name="TextBox 7"/>
          <p:cNvSpPr txBox="1"/>
          <p:nvPr/>
        </p:nvSpPr>
        <p:spPr>
          <a:xfrm>
            <a:off x="2921051" y="5000625"/>
            <a:ext cx="6606252" cy="3882053"/>
          </a:xfrm>
          <a:prstGeom prst="rect">
            <a:avLst/>
          </a:prstGeom>
        </p:spPr>
        <p:txBody>
          <a:bodyPr lIns="0" tIns="0" rIns="0" bIns="0" rtlCol="0" anchor="t">
            <a:spAutoFit/>
          </a:bodyPr>
          <a:lstStyle/>
          <a:p>
            <a:pPr algn="ctr">
              <a:lnSpc>
                <a:spcPts val="4432"/>
              </a:lnSpc>
            </a:pPr>
            <a:r>
              <a:rPr lang="en-US" sz="2518">
                <a:solidFill>
                  <a:srgbClr val="303135"/>
                </a:solidFill>
                <a:latin typeface="IBM Plex Serif"/>
                <a:ea typeface="IBM Plex Serif"/>
                <a:cs typeface="IBM Plex Serif"/>
                <a:sym typeface="IBM Plex Serif"/>
              </a:rPr>
              <a:t>The Morse Code Training System generates random alphabet letters and converts them into corresponding Morse code signals with audio output. It provides an interactive console interface that allows users to practice decoding signals in structured rounds.</a:t>
            </a:r>
          </a:p>
        </p:txBody>
      </p:sp>
      <p:sp>
        <p:nvSpPr>
          <p:cNvPr id="8" name="TextBox 8"/>
          <p:cNvSpPr txBox="1"/>
          <p:nvPr/>
        </p:nvSpPr>
        <p:spPr>
          <a:xfrm>
            <a:off x="9769612" y="5010150"/>
            <a:ext cx="6674348" cy="3324231"/>
          </a:xfrm>
          <a:prstGeom prst="rect">
            <a:avLst/>
          </a:prstGeom>
        </p:spPr>
        <p:txBody>
          <a:bodyPr lIns="0" tIns="0" rIns="0" bIns="0" rtlCol="0" anchor="t">
            <a:spAutoFit/>
          </a:bodyPr>
          <a:lstStyle/>
          <a:p>
            <a:pPr algn="ctr">
              <a:lnSpc>
                <a:spcPts val="4478"/>
              </a:lnSpc>
            </a:pPr>
            <a:r>
              <a:rPr lang="en-US" sz="2544">
                <a:solidFill>
                  <a:srgbClr val="303135"/>
                </a:solidFill>
                <a:latin typeface="IBM Plex Serif"/>
                <a:ea typeface="IBM Plex Serif"/>
                <a:cs typeface="IBM Plex Serif"/>
                <a:sym typeface="IBM Plex Serif"/>
              </a:rPr>
              <a:t>The system accepts user input within a time limit, compares it with the correct Morse code, and updates the score accordingly. At the end of the session, it displays the final score and performance rank to evaluate the user’s accuracy.</a:t>
            </a:r>
          </a:p>
        </p:txBody>
      </p:sp>
      <p:sp>
        <p:nvSpPr>
          <p:cNvPr id="9" name="TextBox 9"/>
          <p:cNvSpPr txBox="1"/>
          <p:nvPr/>
        </p:nvSpPr>
        <p:spPr>
          <a:xfrm>
            <a:off x="5516606" y="4051040"/>
            <a:ext cx="1415143" cy="1003407"/>
          </a:xfrm>
          <a:prstGeom prst="rect">
            <a:avLst/>
          </a:prstGeom>
        </p:spPr>
        <p:txBody>
          <a:bodyPr lIns="0" tIns="0" rIns="0" bIns="0" rtlCol="0" anchor="t">
            <a:spAutoFit/>
          </a:bodyPr>
          <a:lstStyle/>
          <a:p>
            <a:pPr algn="ctr">
              <a:lnSpc>
                <a:spcPts val="8307"/>
              </a:lnSpc>
            </a:pPr>
            <a:r>
              <a:rPr lang="en-US" sz="5933" b="1">
                <a:solidFill>
                  <a:srgbClr val="303135"/>
                </a:solidFill>
                <a:latin typeface="IBM Plex Serif Bold"/>
                <a:ea typeface="IBM Plex Serif Bold"/>
                <a:cs typeface="IBM Plex Serif Bold"/>
                <a:sym typeface="IBM Plex Serif Bold"/>
              </a:rPr>
              <a:t>01</a:t>
            </a:r>
          </a:p>
        </p:txBody>
      </p:sp>
      <p:sp>
        <p:nvSpPr>
          <p:cNvPr id="10" name="TextBox 10"/>
          <p:cNvSpPr txBox="1"/>
          <p:nvPr/>
        </p:nvSpPr>
        <p:spPr>
          <a:xfrm>
            <a:off x="11356251" y="4051040"/>
            <a:ext cx="1415143" cy="1003407"/>
          </a:xfrm>
          <a:prstGeom prst="rect">
            <a:avLst/>
          </a:prstGeom>
        </p:spPr>
        <p:txBody>
          <a:bodyPr lIns="0" tIns="0" rIns="0" bIns="0" rtlCol="0" anchor="t">
            <a:spAutoFit/>
          </a:bodyPr>
          <a:lstStyle/>
          <a:p>
            <a:pPr algn="ctr">
              <a:lnSpc>
                <a:spcPts val="8307"/>
              </a:lnSpc>
            </a:pPr>
            <a:r>
              <a:rPr lang="en-US" sz="5933" b="1">
                <a:solidFill>
                  <a:srgbClr val="303135"/>
                </a:solidFill>
                <a:latin typeface="IBM Plex Serif Bold"/>
                <a:ea typeface="IBM Plex Serif Bold"/>
                <a:cs typeface="IBM Plex Serif Bold"/>
                <a:sym typeface="IBM Plex Serif Bold"/>
              </a:rPr>
              <a:t>02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Freeform 2"/>
          <p:cNvSpPr/>
          <p:nvPr/>
        </p:nvSpPr>
        <p:spPr>
          <a:xfrm flipH="1">
            <a:off x="15520208" y="5586298"/>
            <a:ext cx="3478183" cy="4924486"/>
          </a:xfrm>
          <a:custGeom>
            <a:avLst/>
            <a:gdLst/>
            <a:ahLst/>
            <a:cxnLst/>
            <a:rect l="l" t="t" r="r" b="b"/>
            <a:pathLst>
              <a:path w="3478183" h="4924486">
                <a:moveTo>
                  <a:pt x="3478184" y="0"/>
                </a:moveTo>
                <a:lnTo>
                  <a:pt x="0" y="0"/>
                </a:lnTo>
                <a:lnTo>
                  <a:pt x="0" y="4924487"/>
                </a:lnTo>
                <a:lnTo>
                  <a:pt x="3478184" y="4924487"/>
                </a:lnTo>
                <a:lnTo>
                  <a:pt x="34781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704850" y="-219136"/>
            <a:ext cx="3478183" cy="4924486"/>
          </a:xfrm>
          <a:custGeom>
            <a:avLst/>
            <a:gdLst/>
            <a:ahLst/>
            <a:cxnLst/>
            <a:rect l="l" t="t" r="r" b="b"/>
            <a:pathLst>
              <a:path w="3478183" h="4924486">
                <a:moveTo>
                  <a:pt x="0" y="4924486"/>
                </a:moveTo>
                <a:lnTo>
                  <a:pt x="3478183" y="4924486"/>
                </a:lnTo>
                <a:lnTo>
                  <a:pt x="3478183" y="0"/>
                </a:lnTo>
                <a:lnTo>
                  <a:pt x="0" y="0"/>
                </a:lnTo>
                <a:lnTo>
                  <a:pt x="0" y="492448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873766" y="-1449726"/>
            <a:ext cx="4771068" cy="4114800"/>
          </a:xfrm>
          <a:custGeom>
            <a:avLst/>
            <a:gdLst/>
            <a:ahLst/>
            <a:cxnLst/>
            <a:rect l="l" t="t" r="r" b="b"/>
            <a:pathLst>
              <a:path w="4771068" h="4114800">
                <a:moveTo>
                  <a:pt x="0" y="0"/>
                </a:moveTo>
                <a:lnTo>
                  <a:pt x="4771068" y="0"/>
                </a:lnTo>
                <a:lnTo>
                  <a:pt x="47710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flipV="1">
            <a:off x="-1362075" y="7619917"/>
            <a:ext cx="4771068" cy="4114800"/>
          </a:xfrm>
          <a:custGeom>
            <a:avLst/>
            <a:gdLst/>
            <a:ahLst/>
            <a:cxnLst/>
            <a:rect l="l" t="t" r="r" b="b"/>
            <a:pathLst>
              <a:path w="4771068" h="4114800">
                <a:moveTo>
                  <a:pt x="4771068" y="4114800"/>
                </a:moveTo>
                <a:lnTo>
                  <a:pt x="0" y="4114800"/>
                </a:lnTo>
                <a:lnTo>
                  <a:pt x="0" y="0"/>
                </a:lnTo>
                <a:lnTo>
                  <a:pt x="4771068" y="0"/>
                </a:lnTo>
                <a:lnTo>
                  <a:pt x="4771068"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023459" y="1447636"/>
            <a:ext cx="7143328" cy="8785000"/>
          </a:xfrm>
          <a:custGeom>
            <a:avLst/>
            <a:gdLst/>
            <a:ahLst/>
            <a:cxnLst/>
            <a:rect l="l" t="t" r="r" b="b"/>
            <a:pathLst>
              <a:path w="7143328" h="8785000">
                <a:moveTo>
                  <a:pt x="0" y="0"/>
                </a:moveTo>
                <a:lnTo>
                  <a:pt x="7143328" y="0"/>
                </a:lnTo>
                <a:lnTo>
                  <a:pt x="7143328" y="8785001"/>
                </a:lnTo>
                <a:lnTo>
                  <a:pt x="0" y="8785001"/>
                </a:lnTo>
                <a:lnTo>
                  <a:pt x="0" y="0"/>
                </a:lnTo>
                <a:close/>
              </a:path>
            </a:pathLst>
          </a:custGeom>
          <a:blipFill>
            <a:blip r:embed="rId6"/>
            <a:stretch>
              <a:fillRect l="-3828"/>
            </a:stretch>
          </a:blipFill>
        </p:spPr>
      </p:sp>
      <p:sp>
        <p:nvSpPr>
          <p:cNvPr id="7" name="TextBox 7"/>
          <p:cNvSpPr txBox="1"/>
          <p:nvPr/>
        </p:nvSpPr>
        <p:spPr>
          <a:xfrm>
            <a:off x="1342443" y="190500"/>
            <a:ext cx="14669689" cy="1257136"/>
          </a:xfrm>
          <a:prstGeom prst="rect">
            <a:avLst/>
          </a:prstGeom>
        </p:spPr>
        <p:txBody>
          <a:bodyPr lIns="0" tIns="0" rIns="0" bIns="0" rtlCol="0" anchor="t">
            <a:spAutoFit/>
          </a:bodyPr>
          <a:lstStyle/>
          <a:p>
            <a:pPr algn="ctr">
              <a:lnSpc>
                <a:spcPts val="9432"/>
              </a:lnSpc>
            </a:pPr>
            <a:r>
              <a:rPr lang="en-US" sz="9527" b="1">
                <a:solidFill>
                  <a:srgbClr val="303135"/>
                </a:solidFill>
                <a:latin typeface="IBM Plex Serif Bold"/>
                <a:ea typeface="IBM Plex Serif Bold"/>
                <a:cs typeface="IBM Plex Serif Bold"/>
                <a:sym typeface="IBM Plex Serif Bold"/>
              </a:rPr>
              <a:t>WORKING ALGORITHM</a:t>
            </a:r>
          </a:p>
        </p:txBody>
      </p:sp>
      <p:sp>
        <p:nvSpPr>
          <p:cNvPr id="8" name="TextBox 8"/>
          <p:cNvSpPr txBox="1"/>
          <p:nvPr/>
        </p:nvSpPr>
        <p:spPr>
          <a:xfrm>
            <a:off x="8373379" y="2262391"/>
            <a:ext cx="7638752" cy="6788150"/>
          </a:xfrm>
          <a:prstGeom prst="rect">
            <a:avLst/>
          </a:prstGeom>
        </p:spPr>
        <p:txBody>
          <a:bodyPr lIns="0" tIns="0" rIns="0" bIns="0" rtlCol="0" anchor="t">
            <a:spAutoFit/>
          </a:bodyPr>
          <a:lstStyle/>
          <a:p>
            <a:pPr algn="just">
              <a:lnSpc>
                <a:spcPts val="4899"/>
              </a:lnSpc>
            </a:pPr>
            <a:r>
              <a:rPr lang="en-US" sz="3499">
                <a:solidFill>
                  <a:srgbClr val="303135"/>
                </a:solidFill>
                <a:latin typeface="IBM Plex Serif"/>
                <a:ea typeface="IBM Plex Serif"/>
                <a:cs typeface="IBM Plex Serif"/>
                <a:sym typeface="IBM Plex Serif"/>
              </a:rPr>
              <a:t>1. Initialize system and display intro screen.</a:t>
            </a:r>
          </a:p>
          <a:p>
            <a:pPr algn="just">
              <a:lnSpc>
                <a:spcPts val="4899"/>
              </a:lnSpc>
            </a:pPr>
            <a:r>
              <a:rPr lang="en-US" sz="3499">
                <a:solidFill>
                  <a:srgbClr val="303135"/>
                </a:solidFill>
                <a:latin typeface="IBM Plex Serif"/>
                <a:ea typeface="IBM Plex Serif"/>
                <a:cs typeface="IBM Plex Serif"/>
                <a:sym typeface="IBM Plex Serif"/>
              </a:rPr>
              <a:t> 2. Generate random alphabet letter.</a:t>
            </a:r>
          </a:p>
          <a:p>
            <a:pPr algn="just">
              <a:lnSpc>
                <a:spcPts val="4899"/>
              </a:lnSpc>
            </a:pPr>
            <a:r>
              <a:rPr lang="en-US" sz="3499">
                <a:solidFill>
                  <a:srgbClr val="303135"/>
                </a:solidFill>
                <a:latin typeface="IBM Plex Serif"/>
                <a:ea typeface="IBM Plex Serif"/>
                <a:cs typeface="IBM Plex Serif"/>
                <a:sym typeface="IBM Plex Serif"/>
              </a:rPr>
              <a:t>3. Play Morse code sound for that letter.</a:t>
            </a:r>
          </a:p>
          <a:p>
            <a:pPr algn="just">
              <a:lnSpc>
                <a:spcPts val="4899"/>
              </a:lnSpc>
            </a:pPr>
            <a:r>
              <a:rPr lang="en-US" sz="3499">
                <a:solidFill>
                  <a:srgbClr val="303135"/>
                </a:solidFill>
                <a:latin typeface="IBM Plex Serif"/>
                <a:ea typeface="IBM Plex Serif"/>
                <a:cs typeface="IBM Plex Serif"/>
                <a:sym typeface="IBM Plex Serif"/>
              </a:rPr>
              <a:t>4. Accept user input within time limit.</a:t>
            </a:r>
          </a:p>
          <a:p>
            <a:pPr algn="just">
              <a:lnSpc>
                <a:spcPts val="4899"/>
              </a:lnSpc>
            </a:pPr>
            <a:r>
              <a:rPr lang="en-US" sz="3499">
                <a:solidFill>
                  <a:srgbClr val="303135"/>
                </a:solidFill>
                <a:latin typeface="IBM Plex Serif"/>
                <a:ea typeface="IBM Plex Serif"/>
                <a:cs typeface="IBM Plex Serif"/>
                <a:sym typeface="IBM Plex Serif"/>
              </a:rPr>
              <a:t>–5. Compare input with Morse table.</a:t>
            </a:r>
          </a:p>
          <a:p>
            <a:pPr algn="just">
              <a:lnSpc>
                <a:spcPts val="4899"/>
              </a:lnSpc>
            </a:pPr>
            <a:r>
              <a:rPr lang="en-US" sz="3499">
                <a:solidFill>
                  <a:srgbClr val="303135"/>
                </a:solidFill>
                <a:latin typeface="IBM Plex Serif"/>
                <a:ea typeface="IBM Plex Serif"/>
                <a:cs typeface="IBM Plex Serif"/>
                <a:sym typeface="IBM Plex Serif"/>
              </a:rPr>
              <a:t>–6. Update score and display final rank.</a:t>
            </a:r>
          </a:p>
          <a:p>
            <a:pPr algn="just">
              <a:lnSpc>
                <a:spcPts val="4899"/>
              </a:lnSpc>
            </a:pPr>
            <a:endParaRPr lang="en-US" sz="3499">
              <a:solidFill>
                <a:srgbClr val="303135"/>
              </a:solidFill>
              <a:latin typeface="IBM Plex Serif"/>
              <a:ea typeface="IBM Plex Serif"/>
              <a:cs typeface="IBM Plex Serif"/>
              <a:sym typeface="IBM Plex Serif"/>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Freeform 2"/>
          <p:cNvSpPr/>
          <p:nvPr/>
        </p:nvSpPr>
        <p:spPr>
          <a:xfrm flipH="1">
            <a:off x="15520208" y="5586298"/>
            <a:ext cx="3478183" cy="4924486"/>
          </a:xfrm>
          <a:custGeom>
            <a:avLst/>
            <a:gdLst/>
            <a:ahLst/>
            <a:cxnLst/>
            <a:rect l="l" t="t" r="r" b="b"/>
            <a:pathLst>
              <a:path w="3478183" h="4924486">
                <a:moveTo>
                  <a:pt x="3478184" y="0"/>
                </a:moveTo>
                <a:lnTo>
                  <a:pt x="0" y="0"/>
                </a:lnTo>
                <a:lnTo>
                  <a:pt x="0" y="4924487"/>
                </a:lnTo>
                <a:lnTo>
                  <a:pt x="3478184" y="4924487"/>
                </a:lnTo>
                <a:lnTo>
                  <a:pt x="34781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704850" y="-219136"/>
            <a:ext cx="3478183" cy="4924486"/>
          </a:xfrm>
          <a:custGeom>
            <a:avLst/>
            <a:gdLst/>
            <a:ahLst/>
            <a:cxnLst/>
            <a:rect l="l" t="t" r="r" b="b"/>
            <a:pathLst>
              <a:path w="3478183" h="4924486">
                <a:moveTo>
                  <a:pt x="0" y="4924486"/>
                </a:moveTo>
                <a:lnTo>
                  <a:pt x="3478183" y="4924486"/>
                </a:lnTo>
                <a:lnTo>
                  <a:pt x="3478183" y="0"/>
                </a:lnTo>
                <a:lnTo>
                  <a:pt x="0" y="0"/>
                </a:lnTo>
                <a:lnTo>
                  <a:pt x="0" y="492448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873766" y="-1449726"/>
            <a:ext cx="4771068" cy="4114800"/>
          </a:xfrm>
          <a:custGeom>
            <a:avLst/>
            <a:gdLst/>
            <a:ahLst/>
            <a:cxnLst/>
            <a:rect l="l" t="t" r="r" b="b"/>
            <a:pathLst>
              <a:path w="4771068" h="4114800">
                <a:moveTo>
                  <a:pt x="0" y="0"/>
                </a:moveTo>
                <a:lnTo>
                  <a:pt x="4771068" y="0"/>
                </a:lnTo>
                <a:lnTo>
                  <a:pt x="47710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flipV="1">
            <a:off x="-1362075" y="7619917"/>
            <a:ext cx="4771068" cy="4114800"/>
          </a:xfrm>
          <a:custGeom>
            <a:avLst/>
            <a:gdLst/>
            <a:ahLst/>
            <a:cxnLst/>
            <a:rect l="l" t="t" r="r" b="b"/>
            <a:pathLst>
              <a:path w="4771068" h="4114800">
                <a:moveTo>
                  <a:pt x="4771068" y="4114800"/>
                </a:moveTo>
                <a:lnTo>
                  <a:pt x="0" y="4114800"/>
                </a:lnTo>
                <a:lnTo>
                  <a:pt x="0" y="0"/>
                </a:lnTo>
                <a:lnTo>
                  <a:pt x="4771068" y="0"/>
                </a:lnTo>
                <a:lnTo>
                  <a:pt x="4771068"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0" y="2131756"/>
            <a:ext cx="18288000" cy="1257136"/>
          </a:xfrm>
          <a:prstGeom prst="rect">
            <a:avLst/>
          </a:prstGeom>
        </p:spPr>
        <p:txBody>
          <a:bodyPr lIns="0" tIns="0" rIns="0" bIns="0" rtlCol="0" anchor="t">
            <a:spAutoFit/>
          </a:bodyPr>
          <a:lstStyle/>
          <a:p>
            <a:pPr algn="ctr">
              <a:lnSpc>
                <a:spcPts val="9432"/>
              </a:lnSpc>
            </a:pPr>
            <a:r>
              <a:rPr lang="en-US" sz="9527" b="1">
                <a:solidFill>
                  <a:srgbClr val="303135"/>
                </a:solidFill>
                <a:latin typeface="IBM Plex Serif Bold"/>
                <a:ea typeface="IBM Plex Serif Bold"/>
                <a:cs typeface="IBM Plex Serif Bold"/>
                <a:sym typeface="IBM Plex Serif Bold"/>
              </a:rPr>
              <a:t>PROGRAM STRUCTURE</a:t>
            </a:r>
          </a:p>
        </p:txBody>
      </p:sp>
      <p:sp>
        <p:nvSpPr>
          <p:cNvPr id="7" name="TextBox 7"/>
          <p:cNvSpPr txBox="1"/>
          <p:nvPr/>
        </p:nvSpPr>
        <p:spPr>
          <a:xfrm>
            <a:off x="3132936" y="4495800"/>
            <a:ext cx="13411110" cy="4254384"/>
          </a:xfrm>
          <a:prstGeom prst="rect">
            <a:avLst/>
          </a:prstGeom>
        </p:spPr>
        <p:txBody>
          <a:bodyPr lIns="0" tIns="0" rIns="0" bIns="0" rtlCol="0" anchor="t">
            <a:spAutoFit/>
          </a:bodyPr>
          <a:lstStyle/>
          <a:p>
            <a:pPr algn="l">
              <a:lnSpc>
                <a:spcPts val="6844"/>
              </a:lnSpc>
            </a:pPr>
            <a:r>
              <a:rPr lang="en-US" sz="3888">
                <a:solidFill>
                  <a:srgbClr val="303135"/>
                </a:solidFill>
                <a:latin typeface="IBM Plex Serif"/>
                <a:ea typeface="IBM Plex Serif"/>
                <a:cs typeface="IBM Plex Serif"/>
                <a:sym typeface="IBM Plex Serif"/>
              </a:rPr>
              <a:t>  •morseTable[] → Stores Morse values of A–Z.</a:t>
            </a:r>
          </a:p>
          <a:p>
            <a:pPr algn="l">
              <a:lnSpc>
                <a:spcPts val="6844"/>
              </a:lnSpc>
            </a:pPr>
            <a:r>
              <a:rPr lang="en-US" sz="3888">
                <a:solidFill>
                  <a:srgbClr val="303135"/>
                </a:solidFill>
                <a:latin typeface="IBM Plex Serif"/>
                <a:ea typeface="IBM Plex Serif"/>
                <a:cs typeface="IBM Plex Serif"/>
                <a:sym typeface="IBM Plex Serif"/>
              </a:rPr>
              <a:t>  • playMorseSound() → Plays dot/dash sounds.</a:t>
            </a:r>
          </a:p>
          <a:p>
            <a:pPr algn="l">
              <a:lnSpc>
                <a:spcPts val="6844"/>
              </a:lnSpc>
            </a:pPr>
            <a:r>
              <a:rPr lang="en-US" sz="3888">
                <a:solidFill>
                  <a:srgbClr val="303135"/>
                </a:solidFill>
                <a:latin typeface="IBM Plex Serif"/>
                <a:ea typeface="IBM Plex Serif"/>
                <a:cs typeface="IBM Plex Serif"/>
                <a:sym typeface="IBM Plex Serif"/>
              </a:rPr>
              <a:t>  • showIntro() → Displays startup animation.</a:t>
            </a:r>
          </a:p>
          <a:p>
            <a:pPr algn="l">
              <a:lnSpc>
                <a:spcPts val="6844"/>
              </a:lnSpc>
            </a:pPr>
            <a:r>
              <a:rPr lang="en-US" sz="3888">
                <a:solidFill>
                  <a:srgbClr val="303135"/>
                </a:solidFill>
                <a:latin typeface="IBM Plex Serif"/>
                <a:ea typeface="IBM Plex Serif"/>
                <a:cs typeface="IBM Plex Serif"/>
                <a:sym typeface="IBM Plex Serif"/>
              </a:rPr>
              <a:t>  • main() → Controls game logic and scoring.</a:t>
            </a:r>
          </a:p>
          <a:p>
            <a:pPr algn="l">
              <a:lnSpc>
                <a:spcPts val="6844"/>
              </a:lnSpc>
            </a:pPr>
            <a:endParaRPr lang="en-US" sz="3888">
              <a:solidFill>
                <a:srgbClr val="303135"/>
              </a:solidFill>
              <a:latin typeface="IBM Plex Serif"/>
              <a:ea typeface="IBM Plex Serif"/>
              <a:cs typeface="IBM Plex Serif"/>
              <a:sym typeface="IBM Plex Serif"/>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Freeform 2"/>
          <p:cNvSpPr/>
          <p:nvPr/>
        </p:nvSpPr>
        <p:spPr>
          <a:xfrm flipH="1">
            <a:off x="15520208" y="5586298"/>
            <a:ext cx="3478183" cy="4924486"/>
          </a:xfrm>
          <a:custGeom>
            <a:avLst/>
            <a:gdLst/>
            <a:ahLst/>
            <a:cxnLst/>
            <a:rect l="l" t="t" r="r" b="b"/>
            <a:pathLst>
              <a:path w="3478183" h="4924486">
                <a:moveTo>
                  <a:pt x="3478184" y="0"/>
                </a:moveTo>
                <a:lnTo>
                  <a:pt x="0" y="0"/>
                </a:lnTo>
                <a:lnTo>
                  <a:pt x="0" y="4924487"/>
                </a:lnTo>
                <a:lnTo>
                  <a:pt x="3478184" y="4924487"/>
                </a:lnTo>
                <a:lnTo>
                  <a:pt x="34781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704850" y="-219136"/>
            <a:ext cx="3478183" cy="4924486"/>
          </a:xfrm>
          <a:custGeom>
            <a:avLst/>
            <a:gdLst/>
            <a:ahLst/>
            <a:cxnLst/>
            <a:rect l="l" t="t" r="r" b="b"/>
            <a:pathLst>
              <a:path w="3478183" h="4924486">
                <a:moveTo>
                  <a:pt x="0" y="4924486"/>
                </a:moveTo>
                <a:lnTo>
                  <a:pt x="3478183" y="4924486"/>
                </a:lnTo>
                <a:lnTo>
                  <a:pt x="3478183" y="0"/>
                </a:lnTo>
                <a:lnTo>
                  <a:pt x="0" y="0"/>
                </a:lnTo>
                <a:lnTo>
                  <a:pt x="0" y="492448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873766" y="-1449726"/>
            <a:ext cx="4771068" cy="4114800"/>
          </a:xfrm>
          <a:custGeom>
            <a:avLst/>
            <a:gdLst/>
            <a:ahLst/>
            <a:cxnLst/>
            <a:rect l="l" t="t" r="r" b="b"/>
            <a:pathLst>
              <a:path w="4771068" h="4114800">
                <a:moveTo>
                  <a:pt x="0" y="0"/>
                </a:moveTo>
                <a:lnTo>
                  <a:pt x="4771068" y="0"/>
                </a:lnTo>
                <a:lnTo>
                  <a:pt x="47710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flipV="1">
            <a:off x="-1362075" y="7619917"/>
            <a:ext cx="4771068" cy="4114800"/>
          </a:xfrm>
          <a:custGeom>
            <a:avLst/>
            <a:gdLst/>
            <a:ahLst/>
            <a:cxnLst/>
            <a:rect l="l" t="t" r="r" b="b"/>
            <a:pathLst>
              <a:path w="4771068" h="4114800">
                <a:moveTo>
                  <a:pt x="4771068" y="4114800"/>
                </a:moveTo>
                <a:lnTo>
                  <a:pt x="0" y="4114800"/>
                </a:lnTo>
                <a:lnTo>
                  <a:pt x="0" y="0"/>
                </a:lnTo>
                <a:lnTo>
                  <a:pt x="4771068" y="0"/>
                </a:lnTo>
                <a:lnTo>
                  <a:pt x="4771068"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3491175" y="2818858"/>
            <a:ext cx="11305650" cy="1257136"/>
          </a:xfrm>
          <a:prstGeom prst="rect">
            <a:avLst/>
          </a:prstGeom>
        </p:spPr>
        <p:txBody>
          <a:bodyPr lIns="0" tIns="0" rIns="0" bIns="0" rtlCol="0" anchor="t">
            <a:spAutoFit/>
          </a:bodyPr>
          <a:lstStyle/>
          <a:p>
            <a:pPr algn="ctr">
              <a:lnSpc>
                <a:spcPts val="9432"/>
              </a:lnSpc>
            </a:pPr>
            <a:r>
              <a:rPr lang="en-US" sz="9527" b="1">
                <a:solidFill>
                  <a:srgbClr val="303135"/>
                </a:solidFill>
                <a:latin typeface="IBM Plex Serif Bold"/>
                <a:ea typeface="IBM Plex Serif Bold"/>
                <a:cs typeface="IBM Plex Serif Bold"/>
                <a:sym typeface="IBM Plex Serif Bold"/>
              </a:rPr>
              <a:t>ADVANTAGES</a:t>
            </a:r>
          </a:p>
        </p:txBody>
      </p:sp>
      <p:sp>
        <p:nvSpPr>
          <p:cNvPr id="7" name="TextBox 7"/>
          <p:cNvSpPr txBox="1"/>
          <p:nvPr/>
        </p:nvSpPr>
        <p:spPr>
          <a:xfrm>
            <a:off x="1979576" y="4524375"/>
            <a:ext cx="14328848" cy="3678396"/>
          </a:xfrm>
          <a:prstGeom prst="rect">
            <a:avLst/>
          </a:prstGeom>
        </p:spPr>
        <p:txBody>
          <a:bodyPr lIns="0" tIns="0" rIns="0" bIns="0" rtlCol="0" anchor="t">
            <a:spAutoFit/>
          </a:bodyPr>
          <a:lstStyle/>
          <a:p>
            <a:pPr algn="ctr">
              <a:lnSpc>
                <a:spcPts val="5917"/>
              </a:lnSpc>
            </a:pPr>
            <a:r>
              <a:rPr lang="en-US" sz="3362">
                <a:solidFill>
                  <a:srgbClr val="303135"/>
                </a:solidFill>
                <a:latin typeface="IBM Plex Serif"/>
                <a:ea typeface="IBM Plex Serif"/>
                <a:cs typeface="IBM Plex Serif"/>
                <a:sym typeface="IBM Plex Serif"/>
              </a:rPr>
              <a:t>• Improves Morse code learning.</a:t>
            </a:r>
          </a:p>
          <a:p>
            <a:pPr algn="ctr">
              <a:lnSpc>
                <a:spcPts val="5917"/>
              </a:lnSpc>
            </a:pPr>
            <a:r>
              <a:rPr lang="en-US" sz="3362">
                <a:solidFill>
                  <a:srgbClr val="303135"/>
                </a:solidFill>
                <a:latin typeface="IBM Plex Serif"/>
                <a:ea typeface="IBM Plex Serif"/>
                <a:cs typeface="IBM Plex Serif"/>
                <a:sym typeface="IBM Plex Serif"/>
              </a:rPr>
              <a:t>• Interactive and engaging.</a:t>
            </a:r>
          </a:p>
          <a:p>
            <a:pPr algn="ctr">
              <a:lnSpc>
                <a:spcPts val="5917"/>
              </a:lnSpc>
            </a:pPr>
            <a:r>
              <a:rPr lang="en-US" sz="3362">
                <a:solidFill>
                  <a:srgbClr val="303135"/>
                </a:solidFill>
                <a:latin typeface="IBM Plex Serif"/>
                <a:ea typeface="IBM Plex Serif"/>
                <a:cs typeface="IBM Plex Serif"/>
                <a:sym typeface="IBM Plex Serif"/>
              </a:rPr>
              <a:t>• Simple console-based implementation.</a:t>
            </a:r>
          </a:p>
          <a:p>
            <a:pPr algn="ctr">
              <a:lnSpc>
                <a:spcPts val="5917"/>
              </a:lnSpc>
            </a:pPr>
            <a:r>
              <a:rPr lang="en-US" sz="3362">
                <a:solidFill>
                  <a:srgbClr val="303135"/>
                </a:solidFill>
                <a:latin typeface="IBM Plex Serif"/>
                <a:ea typeface="IBM Plex Serif"/>
                <a:cs typeface="IBM Plex Serif"/>
                <a:sym typeface="IBM Plex Serif"/>
              </a:rPr>
              <a:t>• Can be extended into GUI version.</a:t>
            </a:r>
          </a:p>
          <a:p>
            <a:pPr algn="ctr">
              <a:lnSpc>
                <a:spcPts val="5917"/>
              </a:lnSpc>
            </a:pPr>
            <a:endParaRPr lang="en-US" sz="3362">
              <a:solidFill>
                <a:srgbClr val="303135"/>
              </a:solidFill>
              <a:latin typeface="IBM Plex Serif"/>
              <a:ea typeface="IBM Plex Serif"/>
              <a:cs typeface="IBM Plex Serif"/>
              <a:sym typeface="IBM Plex Serif"/>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Freeform 2"/>
          <p:cNvSpPr/>
          <p:nvPr/>
        </p:nvSpPr>
        <p:spPr>
          <a:xfrm flipH="1">
            <a:off x="15520208" y="5586298"/>
            <a:ext cx="3478183" cy="4924486"/>
          </a:xfrm>
          <a:custGeom>
            <a:avLst/>
            <a:gdLst/>
            <a:ahLst/>
            <a:cxnLst/>
            <a:rect l="l" t="t" r="r" b="b"/>
            <a:pathLst>
              <a:path w="3478183" h="4924486">
                <a:moveTo>
                  <a:pt x="3478184" y="0"/>
                </a:moveTo>
                <a:lnTo>
                  <a:pt x="0" y="0"/>
                </a:lnTo>
                <a:lnTo>
                  <a:pt x="0" y="4924487"/>
                </a:lnTo>
                <a:lnTo>
                  <a:pt x="3478184" y="4924487"/>
                </a:lnTo>
                <a:lnTo>
                  <a:pt x="34781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704850" y="-219136"/>
            <a:ext cx="3478183" cy="4924486"/>
          </a:xfrm>
          <a:custGeom>
            <a:avLst/>
            <a:gdLst/>
            <a:ahLst/>
            <a:cxnLst/>
            <a:rect l="l" t="t" r="r" b="b"/>
            <a:pathLst>
              <a:path w="3478183" h="4924486">
                <a:moveTo>
                  <a:pt x="0" y="4924486"/>
                </a:moveTo>
                <a:lnTo>
                  <a:pt x="3478183" y="4924486"/>
                </a:lnTo>
                <a:lnTo>
                  <a:pt x="3478183" y="0"/>
                </a:lnTo>
                <a:lnTo>
                  <a:pt x="0" y="0"/>
                </a:lnTo>
                <a:lnTo>
                  <a:pt x="0" y="492448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873766" y="-1449726"/>
            <a:ext cx="4771068" cy="4114800"/>
          </a:xfrm>
          <a:custGeom>
            <a:avLst/>
            <a:gdLst/>
            <a:ahLst/>
            <a:cxnLst/>
            <a:rect l="l" t="t" r="r" b="b"/>
            <a:pathLst>
              <a:path w="4771068" h="4114800">
                <a:moveTo>
                  <a:pt x="0" y="0"/>
                </a:moveTo>
                <a:lnTo>
                  <a:pt x="4771068" y="0"/>
                </a:lnTo>
                <a:lnTo>
                  <a:pt x="47710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flipV="1">
            <a:off x="-1362075" y="7619917"/>
            <a:ext cx="4771068" cy="4114800"/>
          </a:xfrm>
          <a:custGeom>
            <a:avLst/>
            <a:gdLst/>
            <a:ahLst/>
            <a:cxnLst/>
            <a:rect l="l" t="t" r="r" b="b"/>
            <a:pathLst>
              <a:path w="4771068" h="4114800">
                <a:moveTo>
                  <a:pt x="4771068" y="4114800"/>
                </a:moveTo>
                <a:lnTo>
                  <a:pt x="0" y="4114800"/>
                </a:lnTo>
                <a:lnTo>
                  <a:pt x="0" y="0"/>
                </a:lnTo>
                <a:lnTo>
                  <a:pt x="4771068" y="0"/>
                </a:lnTo>
                <a:lnTo>
                  <a:pt x="4771068"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3491175" y="2818858"/>
            <a:ext cx="11305650" cy="1257136"/>
          </a:xfrm>
          <a:prstGeom prst="rect">
            <a:avLst/>
          </a:prstGeom>
        </p:spPr>
        <p:txBody>
          <a:bodyPr lIns="0" tIns="0" rIns="0" bIns="0" rtlCol="0" anchor="t">
            <a:spAutoFit/>
          </a:bodyPr>
          <a:lstStyle/>
          <a:p>
            <a:pPr algn="ctr">
              <a:lnSpc>
                <a:spcPts val="9432"/>
              </a:lnSpc>
            </a:pPr>
            <a:r>
              <a:rPr lang="en-US" sz="9527" b="1">
                <a:solidFill>
                  <a:srgbClr val="303135"/>
                </a:solidFill>
                <a:latin typeface="IBM Plex Serif Bold"/>
                <a:ea typeface="IBM Plex Serif Bold"/>
                <a:cs typeface="IBM Plex Serif Bold"/>
                <a:sym typeface="IBM Plex Serif Bold"/>
              </a:rPr>
              <a:t>ADVANCEMENTS</a:t>
            </a:r>
          </a:p>
        </p:txBody>
      </p:sp>
      <p:sp>
        <p:nvSpPr>
          <p:cNvPr id="7" name="TextBox 7"/>
          <p:cNvSpPr txBox="1"/>
          <p:nvPr/>
        </p:nvSpPr>
        <p:spPr>
          <a:xfrm>
            <a:off x="768963" y="4328452"/>
            <a:ext cx="17519037" cy="4495165"/>
          </a:xfrm>
          <a:prstGeom prst="rect">
            <a:avLst/>
          </a:prstGeom>
        </p:spPr>
        <p:txBody>
          <a:bodyPr lIns="0" tIns="0" rIns="0" bIns="0" rtlCol="0" anchor="t">
            <a:spAutoFit/>
          </a:bodyPr>
          <a:lstStyle/>
          <a:p>
            <a:pPr algn="ctr">
              <a:lnSpc>
                <a:spcPts val="7235"/>
              </a:lnSpc>
            </a:pPr>
            <a:r>
              <a:rPr lang="en-US" sz="4111">
                <a:solidFill>
                  <a:srgbClr val="303135"/>
                </a:solidFill>
                <a:latin typeface="IBM Plex Serif"/>
                <a:ea typeface="IBM Plex Serif"/>
                <a:cs typeface="IBM Plex Serif"/>
                <a:sym typeface="IBM Plex Serif"/>
              </a:rPr>
              <a:t>•Add word decoding mode.</a:t>
            </a:r>
          </a:p>
          <a:p>
            <a:pPr algn="ctr">
              <a:lnSpc>
                <a:spcPts val="7235"/>
              </a:lnSpc>
            </a:pPr>
            <a:r>
              <a:rPr lang="en-US" sz="4111">
                <a:solidFill>
                  <a:srgbClr val="303135"/>
                </a:solidFill>
                <a:latin typeface="IBM Plex Serif"/>
                <a:ea typeface="IBM Plex Serif"/>
                <a:cs typeface="IBM Plex Serif"/>
                <a:sym typeface="IBM Plex Serif"/>
              </a:rPr>
              <a:t>• Add difficulty levels.</a:t>
            </a:r>
          </a:p>
          <a:p>
            <a:pPr algn="ctr">
              <a:lnSpc>
                <a:spcPts val="7235"/>
              </a:lnSpc>
            </a:pPr>
            <a:r>
              <a:rPr lang="en-US" sz="4111">
                <a:solidFill>
                  <a:srgbClr val="303135"/>
                </a:solidFill>
                <a:latin typeface="IBM Plex Serif"/>
                <a:ea typeface="IBM Plex Serif"/>
                <a:cs typeface="IBM Plex Serif"/>
                <a:sym typeface="IBM Plex Serif"/>
              </a:rPr>
              <a:t>• Add leaderboard system.</a:t>
            </a:r>
          </a:p>
          <a:p>
            <a:pPr algn="ctr">
              <a:lnSpc>
                <a:spcPts val="7235"/>
              </a:lnSpc>
            </a:pPr>
            <a:r>
              <a:rPr lang="en-US" sz="4111">
                <a:solidFill>
                  <a:srgbClr val="303135"/>
                </a:solidFill>
                <a:latin typeface="IBM Plex Serif"/>
                <a:ea typeface="IBM Plex Serif"/>
                <a:cs typeface="IBM Plex Serif"/>
                <a:sym typeface="IBM Plex Serif"/>
              </a:rPr>
              <a:t>• Convert to GUI using C++ or Python.</a:t>
            </a:r>
          </a:p>
          <a:p>
            <a:pPr algn="ctr">
              <a:lnSpc>
                <a:spcPts val="7235"/>
              </a:lnSpc>
            </a:pPr>
            <a:endParaRPr lang="en-US" sz="4111">
              <a:solidFill>
                <a:srgbClr val="303135"/>
              </a:solidFill>
              <a:latin typeface="IBM Plex Serif"/>
              <a:ea typeface="IBM Plex Serif"/>
              <a:cs typeface="IBM Plex Serif"/>
              <a:sym typeface="IBM Plex Serif"/>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Freeform 2"/>
          <p:cNvSpPr/>
          <p:nvPr/>
        </p:nvSpPr>
        <p:spPr>
          <a:xfrm flipH="1">
            <a:off x="15520208" y="5586298"/>
            <a:ext cx="3478183" cy="4924486"/>
          </a:xfrm>
          <a:custGeom>
            <a:avLst/>
            <a:gdLst/>
            <a:ahLst/>
            <a:cxnLst/>
            <a:rect l="l" t="t" r="r" b="b"/>
            <a:pathLst>
              <a:path w="3478183" h="4924486">
                <a:moveTo>
                  <a:pt x="3478184" y="0"/>
                </a:moveTo>
                <a:lnTo>
                  <a:pt x="0" y="0"/>
                </a:lnTo>
                <a:lnTo>
                  <a:pt x="0" y="4924487"/>
                </a:lnTo>
                <a:lnTo>
                  <a:pt x="3478184" y="4924487"/>
                </a:lnTo>
                <a:lnTo>
                  <a:pt x="34781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704850" y="-219136"/>
            <a:ext cx="3478183" cy="4924486"/>
          </a:xfrm>
          <a:custGeom>
            <a:avLst/>
            <a:gdLst/>
            <a:ahLst/>
            <a:cxnLst/>
            <a:rect l="l" t="t" r="r" b="b"/>
            <a:pathLst>
              <a:path w="3478183" h="4924486">
                <a:moveTo>
                  <a:pt x="0" y="4924486"/>
                </a:moveTo>
                <a:lnTo>
                  <a:pt x="3478183" y="4924486"/>
                </a:lnTo>
                <a:lnTo>
                  <a:pt x="3478183" y="0"/>
                </a:lnTo>
                <a:lnTo>
                  <a:pt x="0" y="0"/>
                </a:lnTo>
                <a:lnTo>
                  <a:pt x="0" y="492448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873766" y="-1449726"/>
            <a:ext cx="4771068" cy="4114800"/>
          </a:xfrm>
          <a:custGeom>
            <a:avLst/>
            <a:gdLst/>
            <a:ahLst/>
            <a:cxnLst/>
            <a:rect l="l" t="t" r="r" b="b"/>
            <a:pathLst>
              <a:path w="4771068" h="4114800">
                <a:moveTo>
                  <a:pt x="0" y="0"/>
                </a:moveTo>
                <a:lnTo>
                  <a:pt x="4771068" y="0"/>
                </a:lnTo>
                <a:lnTo>
                  <a:pt x="47710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flipV="1">
            <a:off x="-1362075" y="7619917"/>
            <a:ext cx="4771068" cy="4114800"/>
          </a:xfrm>
          <a:custGeom>
            <a:avLst/>
            <a:gdLst/>
            <a:ahLst/>
            <a:cxnLst/>
            <a:rect l="l" t="t" r="r" b="b"/>
            <a:pathLst>
              <a:path w="4771068" h="4114800">
                <a:moveTo>
                  <a:pt x="4771068" y="4114800"/>
                </a:moveTo>
                <a:lnTo>
                  <a:pt x="0" y="4114800"/>
                </a:lnTo>
                <a:lnTo>
                  <a:pt x="0" y="0"/>
                </a:lnTo>
                <a:lnTo>
                  <a:pt x="4771068" y="0"/>
                </a:lnTo>
                <a:lnTo>
                  <a:pt x="4771068"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3491175" y="2818858"/>
            <a:ext cx="11305650" cy="1257136"/>
          </a:xfrm>
          <a:prstGeom prst="rect">
            <a:avLst/>
          </a:prstGeom>
        </p:spPr>
        <p:txBody>
          <a:bodyPr lIns="0" tIns="0" rIns="0" bIns="0" rtlCol="0" anchor="t">
            <a:spAutoFit/>
          </a:bodyPr>
          <a:lstStyle/>
          <a:p>
            <a:pPr algn="ctr">
              <a:lnSpc>
                <a:spcPts val="9432"/>
              </a:lnSpc>
            </a:pPr>
            <a:r>
              <a:rPr lang="en-US" sz="9527" b="1">
                <a:solidFill>
                  <a:srgbClr val="303135"/>
                </a:solidFill>
                <a:latin typeface="IBM Plex Serif Bold"/>
                <a:ea typeface="IBM Plex Serif Bold"/>
                <a:cs typeface="IBM Plex Serif Bold"/>
                <a:sym typeface="IBM Plex Serif Bold"/>
              </a:rPr>
              <a:t>CONCLUSION</a:t>
            </a:r>
          </a:p>
        </p:txBody>
      </p:sp>
      <p:sp>
        <p:nvSpPr>
          <p:cNvPr id="7" name="TextBox 7"/>
          <p:cNvSpPr txBox="1"/>
          <p:nvPr/>
        </p:nvSpPr>
        <p:spPr>
          <a:xfrm>
            <a:off x="1744293" y="4201534"/>
            <a:ext cx="15171533" cy="3102344"/>
          </a:xfrm>
          <a:prstGeom prst="rect">
            <a:avLst/>
          </a:prstGeom>
        </p:spPr>
        <p:txBody>
          <a:bodyPr lIns="0" tIns="0" rIns="0" bIns="0" rtlCol="0" anchor="t">
            <a:spAutoFit/>
          </a:bodyPr>
          <a:lstStyle/>
          <a:p>
            <a:pPr algn="ctr">
              <a:lnSpc>
                <a:spcPts val="6266"/>
              </a:lnSpc>
            </a:pPr>
            <a:r>
              <a:rPr lang="en-US" sz="3560">
                <a:solidFill>
                  <a:srgbClr val="303135"/>
                </a:solidFill>
                <a:latin typeface="IBM Plex Serif"/>
                <a:ea typeface="IBM Plex Serif"/>
                <a:cs typeface="IBM Plex Serif"/>
                <a:sym typeface="IBM Plex Serif"/>
              </a:rPr>
              <a:t>• Successfully implemented Morse Code training game.</a:t>
            </a:r>
          </a:p>
          <a:p>
            <a:pPr algn="ctr">
              <a:lnSpc>
                <a:spcPts val="6266"/>
              </a:lnSpc>
            </a:pPr>
            <a:r>
              <a:rPr lang="en-US" sz="3560">
                <a:solidFill>
                  <a:srgbClr val="303135"/>
                </a:solidFill>
                <a:latin typeface="IBM Plex Serif"/>
                <a:ea typeface="IBM Plex Serif"/>
                <a:cs typeface="IBM Plex Serif"/>
                <a:sym typeface="IBM Plex Serif"/>
              </a:rPr>
              <a:t>• Demonstrated use of arrays, sound, and time functions.</a:t>
            </a:r>
          </a:p>
          <a:p>
            <a:pPr algn="ctr">
              <a:lnSpc>
                <a:spcPts val="6266"/>
              </a:lnSpc>
            </a:pPr>
            <a:r>
              <a:rPr lang="en-US" sz="3560">
                <a:solidFill>
                  <a:srgbClr val="303135"/>
                </a:solidFill>
                <a:latin typeface="IBM Plex Serif"/>
                <a:ea typeface="IBM Plex Serif"/>
                <a:cs typeface="IBM Plex Serif"/>
                <a:sym typeface="IBM Plex Serif"/>
              </a:rPr>
              <a:t>• Useful mini project for first-year programming students.</a:t>
            </a:r>
          </a:p>
          <a:p>
            <a:pPr algn="ctr">
              <a:lnSpc>
                <a:spcPts val="6266"/>
              </a:lnSpc>
            </a:pPr>
            <a:endParaRPr lang="en-US" sz="3560">
              <a:solidFill>
                <a:srgbClr val="303135"/>
              </a:solidFill>
              <a:latin typeface="IBM Plex Serif"/>
              <a:ea typeface="IBM Plex Serif"/>
              <a:cs typeface="IBM Plex Serif"/>
              <a:sym typeface="IBM Plex Serif"/>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Freeform 2"/>
          <p:cNvSpPr/>
          <p:nvPr/>
        </p:nvSpPr>
        <p:spPr>
          <a:xfrm flipH="1">
            <a:off x="15520208" y="5586298"/>
            <a:ext cx="3478183" cy="4924486"/>
          </a:xfrm>
          <a:custGeom>
            <a:avLst/>
            <a:gdLst/>
            <a:ahLst/>
            <a:cxnLst/>
            <a:rect l="l" t="t" r="r" b="b"/>
            <a:pathLst>
              <a:path w="3478183" h="4924486">
                <a:moveTo>
                  <a:pt x="3478184" y="0"/>
                </a:moveTo>
                <a:lnTo>
                  <a:pt x="0" y="0"/>
                </a:lnTo>
                <a:lnTo>
                  <a:pt x="0" y="4924487"/>
                </a:lnTo>
                <a:lnTo>
                  <a:pt x="3478184" y="4924487"/>
                </a:lnTo>
                <a:lnTo>
                  <a:pt x="34781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704850" y="-219136"/>
            <a:ext cx="3478183" cy="4924486"/>
          </a:xfrm>
          <a:custGeom>
            <a:avLst/>
            <a:gdLst/>
            <a:ahLst/>
            <a:cxnLst/>
            <a:rect l="l" t="t" r="r" b="b"/>
            <a:pathLst>
              <a:path w="3478183" h="4924486">
                <a:moveTo>
                  <a:pt x="0" y="4924486"/>
                </a:moveTo>
                <a:lnTo>
                  <a:pt x="3478183" y="4924486"/>
                </a:lnTo>
                <a:lnTo>
                  <a:pt x="3478183" y="0"/>
                </a:lnTo>
                <a:lnTo>
                  <a:pt x="0" y="0"/>
                </a:lnTo>
                <a:lnTo>
                  <a:pt x="0" y="492448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873766" y="-1449726"/>
            <a:ext cx="4771068" cy="4114800"/>
          </a:xfrm>
          <a:custGeom>
            <a:avLst/>
            <a:gdLst/>
            <a:ahLst/>
            <a:cxnLst/>
            <a:rect l="l" t="t" r="r" b="b"/>
            <a:pathLst>
              <a:path w="4771068" h="4114800">
                <a:moveTo>
                  <a:pt x="0" y="0"/>
                </a:moveTo>
                <a:lnTo>
                  <a:pt x="4771068" y="0"/>
                </a:lnTo>
                <a:lnTo>
                  <a:pt x="47710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flipV="1">
            <a:off x="-1362075" y="7619917"/>
            <a:ext cx="4771068" cy="4114800"/>
          </a:xfrm>
          <a:custGeom>
            <a:avLst/>
            <a:gdLst/>
            <a:ahLst/>
            <a:cxnLst/>
            <a:rect l="l" t="t" r="r" b="b"/>
            <a:pathLst>
              <a:path w="4771068" h="4114800">
                <a:moveTo>
                  <a:pt x="4771068" y="4114800"/>
                </a:moveTo>
                <a:lnTo>
                  <a:pt x="0" y="4114800"/>
                </a:lnTo>
                <a:lnTo>
                  <a:pt x="0" y="0"/>
                </a:lnTo>
                <a:lnTo>
                  <a:pt x="4771068" y="0"/>
                </a:lnTo>
                <a:lnTo>
                  <a:pt x="4771068"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3626915" y="1973684"/>
            <a:ext cx="11034171" cy="6339633"/>
          </a:xfrm>
          <a:custGeom>
            <a:avLst/>
            <a:gdLst/>
            <a:ahLst/>
            <a:cxnLst/>
            <a:rect l="l" t="t" r="r" b="b"/>
            <a:pathLst>
              <a:path w="11034171" h="6339633">
                <a:moveTo>
                  <a:pt x="0" y="0"/>
                </a:moveTo>
                <a:lnTo>
                  <a:pt x="11034170" y="0"/>
                </a:lnTo>
                <a:lnTo>
                  <a:pt x="11034170" y="6339632"/>
                </a:lnTo>
                <a:lnTo>
                  <a:pt x="0" y="63396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4214558" y="4124905"/>
            <a:ext cx="9858883" cy="1593400"/>
          </a:xfrm>
          <a:prstGeom prst="rect">
            <a:avLst/>
          </a:prstGeom>
        </p:spPr>
        <p:txBody>
          <a:bodyPr lIns="0" tIns="0" rIns="0" bIns="0" rtlCol="0" anchor="t">
            <a:spAutoFit/>
          </a:bodyPr>
          <a:lstStyle/>
          <a:p>
            <a:pPr algn="ctr">
              <a:lnSpc>
                <a:spcPts val="11933"/>
              </a:lnSpc>
            </a:pPr>
            <a:r>
              <a:rPr lang="en-US" sz="12053" b="1">
                <a:solidFill>
                  <a:srgbClr val="303135"/>
                </a:solidFill>
                <a:latin typeface="IBM Plex Serif Bold"/>
                <a:ea typeface="IBM Plex Serif Bold"/>
                <a:cs typeface="IBM Plex Serif Bold"/>
                <a:sym typeface="IBM Plex Serif Bold"/>
              </a:rPr>
              <a:t>THANK YOU</a:t>
            </a:r>
          </a:p>
        </p:txBody>
      </p:sp>
      <p:sp>
        <p:nvSpPr>
          <p:cNvPr id="8" name="TextBox 8"/>
          <p:cNvSpPr txBox="1"/>
          <p:nvPr/>
        </p:nvSpPr>
        <p:spPr>
          <a:xfrm>
            <a:off x="5378805" y="5844881"/>
            <a:ext cx="7530391" cy="1132298"/>
          </a:xfrm>
          <a:prstGeom prst="rect">
            <a:avLst/>
          </a:prstGeom>
        </p:spPr>
        <p:txBody>
          <a:bodyPr lIns="0" tIns="0" rIns="0" bIns="0" rtlCol="0" anchor="t">
            <a:spAutoFit/>
          </a:bodyPr>
          <a:lstStyle/>
          <a:p>
            <a:pPr algn="ctr">
              <a:lnSpc>
                <a:spcPts val="4565"/>
              </a:lnSpc>
            </a:pPr>
            <a:r>
              <a:rPr lang="en-US" sz="3261" dirty="0">
                <a:solidFill>
                  <a:srgbClr val="303135"/>
                </a:solidFill>
                <a:latin typeface="IBM Plex Serif"/>
                <a:ea typeface="IBM Plex Serif"/>
                <a:cs typeface="IBM Plex Serif"/>
                <a:sym typeface="IBM Plex Serif"/>
              </a:rPr>
              <a:t>We Appreciate Your Time. </a:t>
            </a:r>
            <a:r>
              <a:rPr lang="en-US" sz="3261">
                <a:solidFill>
                  <a:srgbClr val="303135"/>
                </a:solidFill>
                <a:latin typeface="IBM Plex Serif"/>
                <a:ea typeface="IBM Plex Serif"/>
                <a:cs typeface="IBM Plex Serif"/>
                <a:sym typeface="IBM Plex Serif"/>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477</Words>
  <Application>Microsoft Office PowerPoint</Application>
  <PresentationFormat>Custom</PresentationFormat>
  <Paragraphs>48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IBM Plex Serif</vt:lpstr>
      <vt:lpstr>Arial</vt:lpstr>
      <vt:lpstr>IBM Plex Serif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MORSE CODE GAME</dc:title>
  <cp:lastModifiedBy>AS MUDHOLE</cp:lastModifiedBy>
  <cp:revision>3</cp:revision>
  <dcterms:created xsi:type="dcterms:W3CDTF">2006-08-16T00:00:00Z</dcterms:created>
  <dcterms:modified xsi:type="dcterms:W3CDTF">2026-02-16T13:38:47Z</dcterms:modified>
  <dc:identifier>DAHBeFna-dc</dc:identifier>
</cp:coreProperties>
</file>